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v1</c:v>
                </c:pt>
              </c:strCache>
            </c:strRef>
          </c:tx>
          <c:spPr>
            <a:solidFill>
              <a:srgbClr val="33415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Holes</c:v>
                  </c:pt>
                  <c:pt idx="1">
                    <c:v>Fillets</c:v>
                  </c:pt>
                  <c:pt idx="2">
                    <c:v>Boss/Bore</c:v>
                  </c:pt>
                  <c:pt idx="3">
                    <c:v>Pockets</c:v>
                  </c:pt>
                  <c:pt idx="4">
                    <c:v>Slots</c:v>
                  </c:pt>
                  <c:pt idx="5">
                    <c:v>Patterns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70</c:v>
                </c:pt>
                <c:pt idx="2">
                  <c:v>50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v2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Holes</c:v>
                  </c:pt>
                  <c:pt idx="1">
                    <c:v>Fillets</c:v>
                  </c:pt>
                  <c:pt idx="2">
                    <c:v>Boss/Bore</c:v>
                  </c:pt>
                  <c:pt idx="3">
                    <c:v>Pockets</c:v>
                  </c:pt>
                  <c:pt idx="4">
                    <c:v>Slots</c:v>
                  </c:pt>
                  <c:pt idx="5">
                    <c:v>Patterns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95</c:v>
                </c:pt>
                <c:pt idx="1">
                  <c:v>40</c:v>
                </c:pt>
                <c:pt idx="2">
                  <c:v>50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v3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Holes</c:v>
                  </c:pt>
                  <c:pt idx="1">
                    <c:v>Fillets</c:v>
                  </c:pt>
                  <c:pt idx="2">
                    <c:v>Boss/Bore</c:v>
                  </c:pt>
                  <c:pt idx="3">
                    <c:v>Pockets</c:v>
                  </c:pt>
                  <c:pt idx="4">
                    <c:v>Slots</c:v>
                  </c:pt>
                  <c:pt idx="5">
                    <c:v>Patterns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97</c:v>
                </c:pt>
                <c:pt idx="1">
                  <c:v>85</c:v>
                </c:pt>
                <c:pt idx="2">
                  <c:v>80</c:v>
                </c:pt>
                <c:pt idx="3">
                  <c:v>75</c:v>
                </c:pt>
                <c:pt idx="4">
                  <c:v>70</c:v>
                </c:pt>
                <c:pt idx="5">
                  <c:v>85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v4.1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Holes</c:v>
                  </c:pt>
                  <c:pt idx="1">
                    <c:v>Fillets</c:v>
                  </c:pt>
                  <c:pt idx="2">
                    <c:v>Boss/Bore</c:v>
                  </c:pt>
                  <c:pt idx="3">
                    <c:v>Pockets</c:v>
                  </c:pt>
                  <c:pt idx="4">
                    <c:v>Slots</c:v>
                  </c:pt>
                  <c:pt idx="5">
                    <c:v>Patterns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98</c:v>
                </c:pt>
                <c:pt idx="1">
                  <c:v>90</c:v>
                </c:pt>
                <c:pt idx="2">
                  <c:v>85</c:v>
                </c:pt>
                <c:pt idx="3">
                  <c:v>80</c:v>
                </c:pt>
                <c:pt idx="4">
                  <c:v>75</c:v>
                </c:pt>
                <c:pt idx="5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645920"/>
            <a:ext cx="4572000" cy="4572000"/>
          </a:xfrm>
          <a:prstGeom prst="ellipse">
            <a:avLst/>
          </a:prstGeom>
          <a:solidFill>
            <a:srgbClr val="0D2B4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0"/>
            <a:ext cx="54864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NX 2506  •  NXOpen Python  •  Automotive Grade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Geometric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6974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4.1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Multi-Engine Fusion Architecture  |  Conflict Resolution  |  ISO Size Mapping  |  DFM Intelligence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8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critical fixes over v4.0  —  Production-grade engineering classification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1920240" cy="685800"/>
          </a:xfrm>
          <a:prstGeom prst="rect">
            <a:avLst/>
          </a:prstGeom>
          <a:solidFill>
            <a:srgbClr val="0D2030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224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7200" y="45537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4206240"/>
            <a:ext cx="1920240" cy="685800"/>
          </a:xfrm>
          <a:prstGeom prst="rect">
            <a:avLst/>
          </a:prstGeom>
          <a:solidFill>
            <a:srgbClr val="0D2030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60320" y="4224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60320" y="45537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in v4.1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4206240"/>
            <a:ext cx="1920240" cy="685800"/>
          </a:xfrm>
          <a:prstGeom prst="rect">
            <a:avLst/>
          </a:prstGeom>
          <a:solidFill>
            <a:srgbClr val="0D2030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4224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63440" y="45537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4206240"/>
            <a:ext cx="1920240" cy="685800"/>
          </a:xfrm>
          <a:prstGeom prst="rect">
            <a:avLst/>
          </a:prstGeom>
          <a:solidFill>
            <a:srgbClr val="0D2030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422452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66560" y="45537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APIs verified by live diagnostics on NX 2506  —  Zero assumptions, zero guesses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Multi-Engine Fusion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1430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 Part File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" y="15361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.prt / STEP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00200" y="1527048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27632" y="1444752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109728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91640" y="11430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BodyCache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5361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527048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1444752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11430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Engines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15361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face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527048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444752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11430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15361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527048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53912" y="1444752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11430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Mapper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15361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lookup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35240" y="1527048"/>
            <a:ext cx="2743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62672" y="1444752"/>
            <a:ext cx="201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26680" y="1097280"/>
            <a:ext cx="1417320" cy="868680"/>
          </a:xfrm>
          <a:prstGeom prst="roundRect">
            <a:avLst>
              <a:gd name="adj" fmla="val 10526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26680" y="114300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Outputs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26680" y="1536192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TXT+CSV+JSON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2880" y="2148840"/>
            <a:ext cx="8778240" cy="502920"/>
          </a:xfrm>
          <a:prstGeom prst="rect">
            <a:avLst/>
          </a:prstGeom>
          <a:solidFill>
            <a:srgbClr val="EEF2FF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0040" y="21945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BodyCache — Single NX Pass: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0" y="219456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list(body.GetFaces())  |  list(face.GetEdges())  |  list(edge.GetFaces())  |  edge.GetLength()  |  edge.GetLocations()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182880" y="2788920"/>
            <a:ext cx="210312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82880" y="2788920"/>
            <a:ext cx="21031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237744" y="288036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HoleEngine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37744" y="313639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GetHoleData() API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37744" y="341071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0.95  [API]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377440" y="2788920"/>
            <a:ext cx="210312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377440" y="2788920"/>
            <a:ext cx="21031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2432304" y="288036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FilletEngine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432304" y="313639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GetBlendData() API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432304" y="341071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0.90  [API]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2788920"/>
            <a:ext cx="210312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0" y="2788920"/>
            <a:ext cx="21031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4626864" y="288036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ChamferEngine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626864" y="313639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GetChamferData() API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26864" y="341071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0.90  [API]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66560" y="2788920"/>
            <a:ext cx="210312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766560" y="2788920"/>
            <a:ext cx="210312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6821424" y="288036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HoleEntryEngine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21424" y="313639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GetHoleData()+cone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21424" y="341071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0.88  [API]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82880" y="3886200"/>
            <a:ext cx="210312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82880" y="3886200"/>
            <a:ext cx="21031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7" name="Text 55"/>
          <p:cNvSpPr/>
          <p:nvPr/>
        </p:nvSpPr>
        <p:spPr>
          <a:xfrm>
            <a:off x="237744" y="397764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CylinderEngine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237744" y="423367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 distance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37744" y="450799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0.70  [GEO]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377440" y="3886200"/>
            <a:ext cx="210312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377440" y="3886200"/>
            <a:ext cx="21031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2" name="Text 60"/>
          <p:cNvSpPr/>
          <p:nvPr/>
        </p:nvSpPr>
        <p:spPr>
          <a:xfrm>
            <a:off x="2432304" y="397764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ConicalEngine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2432304" y="423367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length ratios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432304" y="450799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0.72  [GEO]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72000" y="3886200"/>
            <a:ext cx="210312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572000" y="3886200"/>
            <a:ext cx="21031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7" name="Text 65"/>
          <p:cNvSpPr/>
          <p:nvPr/>
        </p:nvSpPr>
        <p:spPr>
          <a:xfrm>
            <a:off x="4626864" y="397764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TorusEngine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4626864" y="423367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Groove width ratio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626864" y="450799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0.75  [GEO]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766560" y="3886200"/>
            <a:ext cx="2103120" cy="960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766560" y="3886200"/>
            <a:ext cx="21031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2" name="Text 70"/>
          <p:cNvSpPr/>
          <p:nvPr/>
        </p:nvSpPr>
        <p:spPr>
          <a:xfrm>
            <a:off x="6821424" y="397764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PlanarEngine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6821424" y="423367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zone logic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821424" y="4507992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0.65  [HEU]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 + 7 — Fusion Engine with Conflict Resolution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  (broken)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4632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v4.1  (fixed)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023360" cy="1645920"/>
          </a:xfrm>
          <a:prstGeom prst="rect">
            <a:avLst/>
          </a:prstGeom>
          <a:solidFill>
            <a:srgbClr val="1A0A0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447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 LOOKUP WAS WRONG: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TYPE_SPECIFICITY.get(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c['type'].split('—')[0]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1854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.strip(), 0)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4323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always returns 0!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6791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Tie-breaking = dead code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371600"/>
            <a:ext cx="4023360" cy="1645920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44475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TYPE STRING LOOKUP: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6916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TYPE_SPECIFICITY.get(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9385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c['type'],    # exact match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1854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4323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+ TIER hierarchy: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6791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API &gt; GEO &gt; HEURISTIC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52544" y="1371600"/>
            <a:ext cx="0" cy="164592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74320" y="3108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Logic (applied when two candidates within 0.08 confidence):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gap &gt; 0.08?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3977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Higher confidence wins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187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 Go to tier check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17520" y="36301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0" y="347472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tier vs GEO/HEU?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00400" y="3977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API tier always wins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4187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 Go to specificity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0" y="363016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347472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126480" y="3474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different?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3977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Higher specificity wins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26480" y="4187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NO:  Both equivalent - first wins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v4.1 — All 10 Fixes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4297680" cy="71323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1042416"/>
            <a:ext cx="658368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1042416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104241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01 — TYPE_SPECIFICITY key lookup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13350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type string lookup — tie-breaking now actually works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" y="1801368"/>
            <a:ext cx="429768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2880" y="1801368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292608" y="1837944"/>
            <a:ext cx="65836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" y="183794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05840" y="183794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02 — GetBlendData None guard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" y="2130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against None return before tuple indexing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2596896"/>
            <a:ext cx="4297680" cy="71323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596896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292608" y="2633472"/>
            <a:ext cx="65836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63347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05840" y="263347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03 — edge.GetFaces() list() wrap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iterator materialisation across all NX collections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2880" y="3392424"/>
            <a:ext cx="429768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339242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2"/>
          <p:cNvSpPr/>
          <p:nvPr/>
        </p:nvSpPr>
        <p:spPr>
          <a:xfrm>
            <a:off x="292608" y="3429000"/>
            <a:ext cx="658368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292608" y="342900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05840" y="342900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04 — Sequential comment fix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92608" y="37216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misleading 'simultaneous' comment for design reviews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82880" y="4187952"/>
            <a:ext cx="4297680" cy="71323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418795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8"/>
          <p:cNvSpPr/>
          <p:nvPr/>
        </p:nvSpPr>
        <p:spPr>
          <a:xfrm>
            <a:off x="292608" y="4224528"/>
            <a:ext cx="658368" cy="21945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422452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05840" y="422452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05 — ASCII-only listing output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92608" y="45171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 ⚠ replaced with [!] for mixed-locale MNC environments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1005840"/>
            <a:ext cx="429768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005840"/>
            <a:ext cx="54864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Shape 34"/>
          <p:cNvSpPr/>
          <p:nvPr/>
        </p:nvSpPr>
        <p:spPr>
          <a:xfrm>
            <a:off x="4773168" y="1042416"/>
            <a:ext cx="658368" cy="2194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4773168" y="1042416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6400" y="104241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06 — ISO map externalisable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73168" y="13350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fe_config.json override — manufacturing engineering can update without code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1801368"/>
            <a:ext cx="4297680" cy="71323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1801368"/>
            <a:ext cx="54864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Shape 40"/>
          <p:cNvSpPr/>
          <p:nvPr/>
        </p:nvSpPr>
        <p:spPr>
          <a:xfrm>
            <a:off x="4773168" y="1837944"/>
            <a:ext cx="658368" cy="2194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1837944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86400" y="183794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07 — Fusion conflict resolution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73168" y="2130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&gt; GEO &gt; HEU tier hierarchy + specificity ranking on ties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2596896"/>
            <a:ext cx="429768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2596896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8" name="Shape 46"/>
          <p:cNvSpPr/>
          <p:nvPr/>
        </p:nvSpPr>
        <p:spPr>
          <a:xfrm>
            <a:off x="4773168" y="2633472"/>
            <a:ext cx="658368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4773168" y="2633472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86400" y="263347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08 — Precision labelling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773168" y="2926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(API) / (calc) / (polygon approx) / (ref) — no more fake exact labels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3392424"/>
            <a:ext cx="4297680" cy="713232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663440" y="3392424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4" name="Shape 52"/>
          <p:cNvSpPr/>
          <p:nvPr/>
        </p:nvSpPr>
        <p:spPr>
          <a:xfrm>
            <a:off x="4773168" y="3429000"/>
            <a:ext cx="658368" cy="2194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5" name="Text 53"/>
          <p:cNvSpPr/>
          <p:nvPr/>
        </p:nvSpPr>
        <p:spPr>
          <a:xfrm>
            <a:off x="4773168" y="342900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86400" y="342900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09 — Planar engine redesign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773168" y="37216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zone primary; edge count secondary confirmation only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4187952"/>
            <a:ext cx="4297680" cy="71323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63440" y="4187952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0" name="Shape 58"/>
          <p:cNvSpPr/>
          <p:nvPr/>
        </p:nvSpPr>
        <p:spPr>
          <a:xfrm>
            <a:off x="4773168" y="4224528"/>
            <a:ext cx="658368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4773168" y="4224528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486400" y="422452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10 — Variable-radius fillet fix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4773168" y="451713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neighbour blend check via BodyCache — not non-integer heuristic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70E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Size Mapping + DFM Intelligence — GD&amp;T Foundation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Standard Hole Map (30 entries, ±0.15mm tolerance window)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5029200" cy="169164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914400"/>
                <a:gridCol w="1737360"/>
              </a:tblGrid>
              <a:tr h="281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Diameter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Standard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Fit Type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Use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Ø6.8mm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M8 tap drill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tapped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M8 pre-tap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Ø8.4mm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M8 clearance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clearance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M8 bolt std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Ø8.5mm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M8 clearance+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clearance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M8 bolt loose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Ø10.2mm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M10 clearance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clearance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M10 bolt std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Ø13.0mm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M12 clearance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clearance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CBD5E1"/>
                          </a:solidFill>
                        </a:rPr>
                        <a:t>M12 bolt std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E3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 override (FIX 6):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74320" y="34015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fe_config.json: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36301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"iso_hole_map": {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38587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"8.4": ["M8 clearance","clearance","M8 bolt"]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74320" y="408736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}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0" y="1005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Intelligence — L/D Ratio Check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1353312"/>
            <a:ext cx="3474720" cy="438912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0" y="1353312"/>
            <a:ext cx="45720" cy="4389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5577840" y="13990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L/D &gt; 6.0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20840" y="13990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HOLE flag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0" y="1856232"/>
            <a:ext cx="3474720" cy="438912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17" name="Shape 14"/>
          <p:cNvSpPr/>
          <p:nvPr/>
        </p:nvSpPr>
        <p:spPr>
          <a:xfrm>
            <a:off x="5486400" y="1856232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5577840" y="1901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L/D 4-6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20840" y="19019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486400" y="2359152"/>
            <a:ext cx="3474720" cy="438912"/>
          </a:xfrm>
          <a:prstGeom prst="rect">
            <a:avLst/>
          </a:prstGeom>
          <a:solidFill>
            <a:srgbClr val="0D1E30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0" y="2359152"/>
            <a:ext cx="45720" cy="4389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19"/>
          <p:cNvSpPr/>
          <p:nvPr/>
        </p:nvSpPr>
        <p:spPr>
          <a:xfrm>
            <a:off x="5577840" y="24048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L/D &lt; 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20840" y="2404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drill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486400" y="2971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 JSON (ready for GD&amp;T Module 2):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0" y="3273552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"type": "HOLE - SIMPLE",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486400" y="3511296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0.95,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486400" y="3749040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"conf_level": "HIGH",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486400" y="3986784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"tier": "API",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486400" y="4224528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"ISO Standard (ref)": "M8 clearance",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486400" y="4462272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"DFM Flag": "DEEP HOLE L/D=7.2"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486400" y="4700016"/>
            <a:ext cx="3474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Formats &amp; GD&amp;T Automation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594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10515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719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report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bars [#####.....]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450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DFM flags section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816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Needs-review list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Feature-by-feature detail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51560"/>
            <a:ext cx="274320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212080" y="10515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719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Excel-ready spreadsheet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91840" y="2084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+ tier columns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2450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Needs-review flag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816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All ISO mappings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9184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Filter &amp; sort in Excel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05156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51560"/>
            <a:ext cx="274320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051560"/>
            <a:ext cx="2011680" cy="5943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10515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1719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GD&amp;T automation input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20848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Structured for Module 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4505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Position + axis vectors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8163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Dimension source labels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1821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DFM flags embedded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343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FULL GD&amp;T AUTOMATION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4663440"/>
            <a:ext cx="5943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663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325880" y="4846320"/>
            <a:ext cx="1417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2743200" y="4663440"/>
            <a:ext cx="594360" cy="36576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0" y="4663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46888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337560" y="4846320"/>
            <a:ext cx="1417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754880" y="4663440"/>
            <a:ext cx="594360" cy="36576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4663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48056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49240" y="4846320"/>
            <a:ext cx="1417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6766560" y="4663440"/>
            <a:ext cx="594360" cy="365760"/>
          </a:xfrm>
          <a:prstGeom prst="ellipse">
            <a:avLst/>
          </a:prstGeom>
          <a:solidFill>
            <a:srgbClr val="CBD5E1"/>
          </a:solidFill>
          <a:ln/>
        </p:spPr>
      </p:sp>
      <p:sp>
        <p:nvSpPr>
          <p:cNvPr id="45" name="Text 43"/>
          <p:cNvSpPr/>
          <p:nvPr/>
        </p:nvSpPr>
        <p:spPr>
          <a:xfrm>
            <a:off x="6766560" y="4663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92240" y="4754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ISO/ASME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 Validation — 6 Industrial Models Tested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914400"/>
                <a:gridCol w="822960"/>
                <a:gridCol w="338328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Features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Holes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Fix Applied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Butterfly Valve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46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13/13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False fillets fixed (size gate)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Adaptor 15KW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11/11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Annular→Pocket fixed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Adaptor 30KW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8/8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Bolt circle n&gt;=3 enforced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Engine Block (Ex96)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312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46/46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92 bore/boss fixed by centroid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Bearing Hsg  (Ex82)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111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20/20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Step area gate applied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Molex Connector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0/0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FIX</a:t>
                      </a:r>
                      <a:endParaRPr lang="en-US" sz="10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</a:rPr>
                        <a:t>Iterator fix resolves 0-features</a:t>
                      </a:r>
                      <a:endParaRPr lang="en-US" sz="9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274320" y="4023360"/>
          <a:ext cx="859536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NX Feature Extractor v4.1</dc:title>
  <dc:subject>PptxGenJS Presentation</dc:subject>
  <dc:creator>NX Feature Extractor Project</dc:creator>
  <cp:lastModifiedBy>NX Feature Extractor Project</cp:lastModifiedBy>
  <cp:revision>1</cp:revision>
  <dcterms:created xsi:type="dcterms:W3CDTF">2026-03-28T18:04:01Z</dcterms:created>
  <dcterms:modified xsi:type="dcterms:W3CDTF">2026-03-28T18:04:01Z</dcterms:modified>
</cp:coreProperties>
</file>